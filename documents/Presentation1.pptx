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7" r:id="rId2"/>
    <p:sldId id="261" r:id="rId3"/>
    <p:sldId id="351" r:id="rId4"/>
    <p:sldId id="355" r:id="rId5"/>
    <p:sldId id="354" r:id="rId6"/>
    <p:sldId id="356" r:id="rId7"/>
    <p:sldId id="352" r:id="rId8"/>
    <p:sldId id="357" r:id="rId9"/>
    <p:sldId id="359" r:id="rId10"/>
    <p:sldId id="360" r:id="rId11"/>
    <p:sldId id="361" r:id="rId12"/>
    <p:sldId id="362" r:id="rId13"/>
    <p:sldId id="353" r:id="rId14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051719B1-B915-4C22-AA84-2353C8B3B498}" type="datetimeFigureOut">
              <a:rPr lang="he-IL" smtClean="0"/>
              <a:t>ז'/תמוז/תשפ"ו</a:t>
            </a:fld>
            <a:endParaRPr lang="he-IL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9C8687B0-788B-4583-82DA-C5E6FF3D22E0}" type="slidenum">
              <a:rPr lang="he-IL" smtClean="0"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55335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cd8a80d6bc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cd8a80d6bc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105aad17dc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105aad17dc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105aad17dc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105aad17dc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105aad17dc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105aad17dc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105aad17dc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105aad17dc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386633" y="1766000"/>
            <a:ext cx="9418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8666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386667" y="4502800"/>
            <a:ext cx="9418800" cy="58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-343967" y="-96733"/>
            <a:ext cx="4063200" cy="1795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3;p2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4;p2"/>
          <p:cNvCxnSpPr/>
          <p:nvPr/>
        </p:nvCxnSpPr>
        <p:spPr>
          <a:xfrm flipH="1">
            <a:off x="8623267" y="5247167"/>
            <a:ext cx="4063200" cy="1795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248598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3156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3214000" y="3744337"/>
            <a:ext cx="5764000" cy="6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subTitle" idx="1"/>
          </p:nvPr>
        </p:nvSpPr>
        <p:spPr>
          <a:xfrm>
            <a:off x="2457200" y="2215951"/>
            <a:ext cx="7277600" cy="13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16" name="Google Shape;116;p15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" name="Google Shape;117;p15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983221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Quote 1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933200" y="3761684"/>
            <a:ext cx="5764000" cy="6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>
            <a:endParaRPr/>
          </a:p>
        </p:txBody>
      </p:sp>
      <p:sp>
        <p:nvSpPr>
          <p:cNvPr id="120" name="Google Shape;120;p16"/>
          <p:cNvSpPr txBox="1">
            <a:spLocks noGrp="1"/>
          </p:cNvSpPr>
          <p:nvPr>
            <p:ph type="subTitle" idx="1"/>
          </p:nvPr>
        </p:nvSpPr>
        <p:spPr>
          <a:xfrm>
            <a:off x="933200" y="2234536"/>
            <a:ext cx="7277600" cy="13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21" name="Google Shape;121;p16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" name="Google Shape;122;p16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" name="Google Shape;123;p16"/>
          <p:cNvCxnSpPr/>
          <p:nvPr/>
        </p:nvCxnSpPr>
        <p:spPr>
          <a:xfrm flipH="1">
            <a:off x="9938984" y="5404884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" name="Google Shape;124;p16"/>
          <p:cNvCxnSpPr/>
          <p:nvPr/>
        </p:nvCxnSpPr>
        <p:spPr>
          <a:xfrm flipH="1">
            <a:off x="-316183" y="-94883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184288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1127400" y="1977100"/>
            <a:ext cx="9937200" cy="17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9pPr>
          </a:lstStyle>
          <a:p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3066000" y="3962867"/>
            <a:ext cx="6060000" cy="7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cxnSp>
        <p:nvCxnSpPr>
          <p:cNvPr id="141" name="Google Shape;141;p19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" name="Google Shape;142;p19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705246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 txBox="1">
            <a:spLocks noGrp="1"/>
          </p:cNvSpPr>
          <p:nvPr>
            <p:ph type="title"/>
          </p:nvPr>
        </p:nvSpPr>
        <p:spPr>
          <a:xfrm>
            <a:off x="4990467" y="2066500"/>
            <a:ext cx="6060000" cy="17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1pPr>
            <a:lvl2pPr lvl="1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9pPr>
          </a:lstStyle>
          <a:p>
            <a:endParaRPr/>
          </a:p>
        </p:txBody>
      </p:sp>
      <p:sp>
        <p:nvSpPr>
          <p:cNvPr id="145" name="Google Shape;145;p20"/>
          <p:cNvSpPr txBox="1">
            <a:spLocks noGrp="1"/>
          </p:cNvSpPr>
          <p:nvPr>
            <p:ph type="subTitle" idx="1"/>
          </p:nvPr>
        </p:nvSpPr>
        <p:spPr>
          <a:xfrm>
            <a:off x="4990467" y="4052284"/>
            <a:ext cx="6060000" cy="7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cxnSp>
        <p:nvCxnSpPr>
          <p:cNvPr id="146" name="Google Shape;146;p20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7" name="Google Shape;147;p20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8" name="Google Shape;148;p20"/>
          <p:cNvCxnSpPr/>
          <p:nvPr/>
        </p:nvCxnSpPr>
        <p:spPr>
          <a:xfrm>
            <a:off x="-333633" y="5435267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9" name="Google Shape;149;p20"/>
          <p:cNvCxnSpPr/>
          <p:nvPr/>
        </p:nvCxnSpPr>
        <p:spPr>
          <a:xfrm>
            <a:off x="9921533" y="-64500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0" name="Google Shape;150;p20"/>
          <p:cNvCxnSpPr/>
          <p:nvPr/>
        </p:nvCxnSpPr>
        <p:spPr>
          <a:xfrm flipH="1">
            <a:off x="9938984" y="5404884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1" name="Google Shape;151;p20"/>
          <p:cNvCxnSpPr/>
          <p:nvPr/>
        </p:nvCxnSpPr>
        <p:spPr>
          <a:xfrm flipH="1">
            <a:off x="-316183" y="-94883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289121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6" name="Google Shape;456;p51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7" name="Google Shape;457;p51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319405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9" name="Google Shape;459;p52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0" name="Google Shape;460;p52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1" name="Google Shape;461;p52"/>
          <p:cNvCxnSpPr/>
          <p:nvPr/>
        </p:nvCxnSpPr>
        <p:spPr>
          <a:xfrm>
            <a:off x="9912233" y="-167467"/>
            <a:ext cx="2657600" cy="17736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2" name="Google Shape;462;p52"/>
          <p:cNvCxnSpPr/>
          <p:nvPr/>
        </p:nvCxnSpPr>
        <p:spPr>
          <a:xfrm>
            <a:off x="-196367" y="5257967"/>
            <a:ext cx="2657600" cy="17736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118864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ackground 2"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4" name="Google Shape;464;p53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53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53"/>
          <p:cNvCxnSpPr/>
          <p:nvPr/>
        </p:nvCxnSpPr>
        <p:spPr>
          <a:xfrm flipH="1">
            <a:off x="9029533" y="4884600"/>
            <a:ext cx="3764400" cy="21776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144681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ackground 3"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8" name="Google Shape;468;p54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9" name="Google Shape;469;p54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0" name="Google Shape;470;p54"/>
          <p:cNvCxnSpPr/>
          <p:nvPr/>
        </p:nvCxnSpPr>
        <p:spPr>
          <a:xfrm>
            <a:off x="-333633" y="5435267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1" name="Google Shape;471;p54"/>
          <p:cNvCxnSpPr/>
          <p:nvPr/>
        </p:nvCxnSpPr>
        <p:spPr>
          <a:xfrm>
            <a:off x="9921533" y="-64500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2" name="Google Shape;472;p54"/>
          <p:cNvCxnSpPr/>
          <p:nvPr/>
        </p:nvCxnSpPr>
        <p:spPr>
          <a:xfrm flipH="1">
            <a:off x="9938984" y="5404884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3" name="Google Shape;473;p54"/>
          <p:cNvCxnSpPr/>
          <p:nvPr/>
        </p:nvCxnSpPr>
        <p:spPr>
          <a:xfrm flipH="1">
            <a:off x="-316183" y="-94883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882391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1000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3190960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E8EABA4E-40E8-74BA-10D7-E0EF3A49A5FE}"/>
              </a:ext>
            </a:extLst>
          </p:cNvPr>
          <p:cNvSpPr txBox="1"/>
          <p:nvPr/>
        </p:nvSpPr>
        <p:spPr>
          <a:xfrm>
            <a:off x="1427356" y="4284453"/>
            <a:ext cx="9327376" cy="50276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defTabSz="1219170" rtl="1">
              <a:buClr>
                <a:srgbClr val="000000"/>
              </a:buClr>
            </a:pPr>
            <a:r>
              <a:rPr lang="he-IL" sz="26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איל רייפלר ושקד ברונדווין</a:t>
            </a:r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B098AC7E-6ED9-0357-7F06-422D2D914C0A}"/>
              </a:ext>
            </a:extLst>
          </p:cNvPr>
          <p:cNvSpPr txBox="1"/>
          <p:nvPr/>
        </p:nvSpPr>
        <p:spPr>
          <a:xfrm>
            <a:off x="-228600" y="1299290"/>
            <a:ext cx="12888686" cy="280076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defTabSz="1219170" rtl="1">
              <a:buClr>
                <a:srgbClr val="000000"/>
              </a:buClr>
            </a:pPr>
            <a:r>
              <a:rPr lang="he-IL" sz="88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הסתברות מוטציות סרטניות בדומיינים </a:t>
            </a:r>
            <a:r>
              <a:rPr lang="he-IL" sz="8800" kern="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פונקציונלים</a:t>
            </a:r>
            <a:endParaRPr lang="he-IL" sz="88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ABA3642B-F1F2-E634-C2D1-880FA0B9A168}"/>
              </a:ext>
            </a:extLst>
          </p:cNvPr>
          <p:cNvSpPr txBox="1"/>
          <p:nvPr/>
        </p:nvSpPr>
        <p:spPr>
          <a:xfrm>
            <a:off x="1981201" y="674915"/>
            <a:ext cx="7500257" cy="9130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sz="5333" dirty="0"/>
              <a:t>מהו חלבון?</a:t>
            </a:r>
          </a:p>
        </p:txBody>
      </p:sp>
      <p:pic>
        <p:nvPicPr>
          <p:cNvPr id="3" name="Picture 2" descr="Folding | ProteinIQ">
            <a:extLst>
              <a:ext uri="{FF2B5EF4-FFF2-40B4-BE49-F238E27FC236}">
                <a16:creationId xmlns:a16="http://schemas.microsoft.com/office/drawing/2014/main" id="{6CBF3980-CDF4-7414-994F-3447FE079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4549" y="1391976"/>
            <a:ext cx="5683444" cy="46869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88BF5BD-DF69-72A9-2A2F-B2630568AE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438" y="2075841"/>
            <a:ext cx="4675392" cy="3504326"/>
          </a:xfrm>
          <a:prstGeom prst="rect">
            <a:avLst/>
          </a:prstGeom>
        </p:spPr>
      </p:pic>
      <p:pic>
        <p:nvPicPr>
          <p:cNvPr id="9" name="Picture 8" descr="Arrow Transparent Background PNGs for Free Download">
            <a:extLst>
              <a:ext uri="{FF2B5EF4-FFF2-40B4-BE49-F238E27FC236}">
                <a16:creationId xmlns:a16="http://schemas.microsoft.com/office/drawing/2014/main" id="{FF30C3D1-1124-696C-9309-1158DC0BC4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7635" y="2399062"/>
            <a:ext cx="3449457" cy="22996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What is Genomic Sequencing? | AMD | CDC">
            <a:extLst>
              <a:ext uri="{FF2B5EF4-FFF2-40B4-BE49-F238E27FC236}">
                <a16:creationId xmlns:a16="http://schemas.microsoft.com/office/drawing/2014/main" id="{8F781164-643B-7E4A-71D3-C13F405691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377" b="11688"/>
          <a:stretch>
            <a:fillRect/>
          </a:stretch>
        </p:blipFill>
        <p:spPr bwMode="auto">
          <a:xfrm>
            <a:off x="7815037" y="2732314"/>
            <a:ext cx="3865956" cy="696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B7DDA5A2-3980-0FBA-1521-1192C58C2EC5}"/>
              </a:ext>
            </a:extLst>
          </p:cNvPr>
          <p:cNvSpPr txBox="1"/>
          <p:nvPr/>
        </p:nvSpPr>
        <p:spPr>
          <a:xfrm>
            <a:off x="4745718" y="2731373"/>
            <a:ext cx="1948543" cy="6667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defTabSz="1219170" rtl="1">
              <a:buClr>
                <a:srgbClr val="000000"/>
              </a:buClr>
            </a:pPr>
            <a:r>
              <a:rPr lang="he-IL" sz="3733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המוגלובין</a:t>
            </a:r>
          </a:p>
        </p:txBody>
      </p:sp>
      <p:cxnSp>
        <p:nvCxnSpPr>
          <p:cNvPr id="6" name="מחבר חץ ישר 5">
            <a:extLst>
              <a:ext uri="{FF2B5EF4-FFF2-40B4-BE49-F238E27FC236}">
                <a16:creationId xmlns:a16="http://schemas.microsoft.com/office/drawing/2014/main" id="{55F4E3E8-2FEE-4FBF-0DD6-D094EEF21899}"/>
              </a:ext>
            </a:extLst>
          </p:cNvPr>
          <p:cNvCxnSpPr>
            <a:cxnSpLocks/>
            <a:stCxn id="4098" idx="1"/>
            <a:endCxn id="4" idx="3"/>
          </p:cNvCxnSpPr>
          <p:nvPr/>
        </p:nvCxnSpPr>
        <p:spPr>
          <a:xfrm flipH="1" flipV="1">
            <a:off x="6694261" y="3064766"/>
            <a:ext cx="1120776" cy="158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633BE581-507D-1E4B-5D51-AA1026DEA91B}"/>
              </a:ext>
            </a:extLst>
          </p:cNvPr>
          <p:cNvSpPr txBox="1"/>
          <p:nvPr/>
        </p:nvSpPr>
        <p:spPr>
          <a:xfrm>
            <a:off x="-241013" y="2526188"/>
            <a:ext cx="3865956" cy="107721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defTabSz="1219170" rtl="1">
              <a:buClr>
                <a:srgbClr val="000000"/>
              </a:buClr>
            </a:pPr>
            <a:r>
              <a:rPr lang="he-IL" sz="32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לשאת חמצן אל תאי הגוף</a:t>
            </a:r>
          </a:p>
        </p:txBody>
      </p:sp>
      <p:cxnSp>
        <p:nvCxnSpPr>
          <p:cNvPr id="12" name="מחבר חץ ישר 11">
            <a:extLst>
              <a:ext uri="{FF2B5EF4-FFF2-40B4-BE49-F238E27FC236}">
                <a16:creationId xmlns:a16="http://schemas.microsoft.com/office/drawing/2014/main" id="{0339B79A-1D4E-347F-87D8-1F84A109043E}"/>
              </a:ext>
            </a:extLst>
          </p:cNvPr>
          <p:cNvCxnSpPr>
            <a:cxnSpLocks/>
            <a:stCxn id="4" idx="1"/>
            <a:endCxn id="10" idx="3"/>
          </p:cNvCxnSpPr>
          <p:nvPr/>
        </p:nvCxnSpPr>
        <p:spPr>
          <a:xfrm flipH="1">
            <a:off x="3624943" y="3064766"/>
            <a:ext cx="1120775" cy="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539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F1B5188E-55ED-6E12-F135-B4FE05ED41EF}"/>
              </a:ext>
            </a:extLst>
          </p:cNvPr>
          <p:cNvSpPr txBox="1"/>
          <p:nvPr/>
        </p:nvSpPr>
        <p:spPr>
          <a:xfrm>
            <a:off x="3194958" y="489857"/>
            <a:ext cx="5802085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sz="4800" dirty="0"/>
              <a:t>מה זה דומיין פונקציונלי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4EA933-A750-5608-22D6-B4A4D4B809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810" y="489857"/>
            <a:ext cx="10846379" cy="5911837"/>
          </a:xfrm>
          <a:prstGeom prst="rect">
            <a:avLst/>
          </a:prstGeom>
        </p:spPr>
      </p:pic>
      <p:pic>
        <p:nvPicPr>
          <p:cNvPr id="5" name="Picture 4" descr="קובץ:Short left arrow - yellow.png – ויקיפדיה">
            <a:extLst>
              <a:ext uri="{FF2B5EF4-FFF2-40B4-BE49-F238E27FC236}">
                <a16:creationId xmlns:a16="http://schemas.microsoft.com/office/drawing/2014/main" id="{3BBB94AC-0E1F-AD0B-441C-106F115115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443737" y="3909081"/>
            <a:ext cx="2014324" cy="1054163"/>
          </a:xfrm>
          <a:prstGeom prst="rect">
            <a:avLst/>
          </a:prstGeom>
        </p:spPr>
      </p:pic>
      <p:pic>
        <p:nvPicPr>
          <p:cNvPr id="14" name="Picture 13" descr="קובץ:Short left arrow - yellow.png – ויקיפדיה">
            <a:extLst>
              <a:ext uri="{FF2B5EF4-FFF2-40B4-BE49-F238E27FC236}">
                <a16:creationId xmlns:a16="http://schemas.microsoft.com/office/drawing/2014/main" id="{464EED32-1323-F19E-9530-A2B156AC12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120137" y="3925856"/>
            <a:ext cx="2014324" cy="1054163"/>
          </a:xfrm>
          <a:prstGeom prst="rect">
            <a:avLst/>
          </a:prstGeom>
        </p:spPr>
      </p:pic>
      <p:pic>
        <p:nvPicPr>
          <p:cNvPr id="15" name="Picture 14" descr="קובץ:Short left arrow - yellow.png – ויקיפדיה">
            <a:extLst>
              <a:ext uri="{FF2B5EF4-FFF2-40B4-BE49-F238E27FC236}">
                <a16:creationId xmlns:a16="http://schemas.microsoft.com/office/drawing/2014/main" id="{FC9F4121-B795-E3F2-94BA-E4D9E5C013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898226" y="4017939"/>
            <a:ext cx="2014324" cy="10541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F1B5188E-55ED-6E12-F135-B4FE05ED41EF}"/>
              </a:ext>
            </a:extLst>
          </p:cNvPr>
          <p:cNvSpPr txBox="1"/>
          <p:nvPr/>
        </p:nvSpPr>
        <p:spPr>
          <a:xfrm>
            <a:off x="5353049" y="1607401"/>
            <a:ext cx="7995556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sz="4800" dirty="0"/>
              <a:t>שאלת המחקר</a:t>
            </a: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88BEF344-3C5C-0577-5B26-7237D8F702AC}"/>
              </a:ext>
            </a:extLst>
          </p:cNvPr>
          <p:cNvSpPr txBox="1"/>
          <p:nvPr/>
        </p:nvSpPr>
        <p:spPr>
          <a:xfrm>
            <a:off x="6139543" y="2438398"/>
            <a:ext cx="6085114" cy="181588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sz="2800" dirty="0"/>
              <a:t>האם מוטציות סרטניות נוטות להופיע בתדירות גבוהה יותר </a:t>
            </a:r>
            <a:r>
              <a:rPr lang="he-IL" sz="2800" dirty="0" err="1"/>
              <a:t>ב"דומיינים</a:t>
            </a:r>
            <a:r>
              <a:rPr lang="he-IL" sz="2800" dirty="0"/>
              <a:t> פונקציונליים" של חלבונים, ואם כן – מה גורם לכך?</a:t>
            </a:r>
            <a:endParaRPr lang="he-IL" sz="5400" dirty="0"/>
          </a:p>
        </p:txBody>
      </p:sp>
      <p:sp>
        <p:nvSpPr>
          <p:cNvPr id="2" name="תיבת טקסט 5">
            <a:extLst>
              <a:ext uri="{FF2B5EF4-FFF2-40B4-BE49-F238E27FC236}">
                <a16:creationId xmlns:a16="http://schemas.microsoft.com/office/drawing/2014/main" id="{705F8B7E-FDD4-5668-52AF-A9551970205A}"/>
              </a:ext>
            </a:extLst>
          </p:cNvPr>
          <p:cNvSpPr txBox="1"/>
          <p:nvPr/>
        </p:nvSpPr>
        <p:spPr>
          <a:xfrm>
            <a:off x="-1080408" y="1607401"/>
            <a:ext cx="7995556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sz="4800" dirty="0"/>
              <a:t>ההיגיון מאחוריה</a:t>
            </a:r>
          </a:p>
        </p:txBody>
      </p:sp>
      <p:sp>
        <p:nvSpPr>
          <p:cNvPr id="3" name="תיבת טקסט 7">
            <a:extLst>
              <a:ext uri="{FF2B5EF4-FFF2-40B4-BE49-F238E27FC236}">
                <a16:creationId xmlns:a16="http://schemas.microsoft.com/office/drawing/2014/main" id="{481A948A-9C43-5D08-8F89-A0B493D58E3A}"/>
              </a:ext>
            </a:extLst>
          </p:cNvPr>
          <p:cNvSpPr txBox="1"/>
          <p:nvPr/>
        </p:nvSpPr>
        <p:spPr>
          <a:xfrm>
            <a:off x="54429" y="2438398"/>
            <a:ext cx="6085114" cy="181588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sz="2800" dirty="0"/>
              <a:t>תהליך של ברירה טבעית בתוך הגידול: מוטציה באזור קריטי מעניקה לתא יתרון הישרדותי וגורמת לו להשתכפל ללא הפסקה.</a:t>
            </a:r>
            <a:endParaRPr lang="he-IL" sz="8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F1B5188E-55ED-6E12-F135-B4FE05ED41EF}"/>
              </a:ext>
            </a:extLst>
          </p:cNvPr>
          <p:cNvSpPr txBox="1"/>
          <p:nvPr/>
        </p:nvSpPr>
        <p:spPr>
          <a:xfrm>
            <a:off x="3194958" y="489857"/>
            <a:ext cx="5802085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sz="4800" dirty="0"/>
              <a:t>החלבונים שבחרנו</a:t>
            </a: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88BEF344-3C5C-0577-5B26-7237D8F702AC}"/>
              </a:ext>
            </a:extLst>
          </p:cNvPr>
          <p:cNvSpPr txBox="1"/>
          <p:nvPr/>
        </p:nvSpPr>
        <p:spPr>
          <a:xfrm>
            <a:off x="7151919" y="1525097"/>
            <a:ext cx="4898568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en-US" sz="3200" dirty="0"/>
              <a:t>EGFR</a:t>
            </a:r>
            <a:r>
              <a:rPr lang="he-IL" sz="3200" dirty="0"/>
              <a:t> ו-</a:t>
            </a:r>
            <a:r>
              <a:rPr lang="en-US" sz="3200" dirty="0"/>
              <a:t>KRAS</a:t>
            </a:r>
            <a:endParaRPr lang="he-IL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72952A-2355-1E1F-F64F-483774BBF51C}"/>
              </a:ext>
            </a:extLst>
          </p:cNvPr>
          <p:cNvSpPr txBox="1"/>
          <p:nvPr/>
        </p:nvSpPr>
        <p:spPr>
          <a:xfrm>
            <a:off x="2764971" y="2215086"/>
            <a:ext cx="9285516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sz="2000" dirty="0"/>
              <a:t>בחרנו להתמקד בשני חלבונים שמקושרים לסרטן:</a:t>
            </a:r>
          </a:p>
          <a:p>
            <a:pPr algn="r"/>
            <a:r>
              <a:rPr lang="en-US" sz="2000" dirty="0"/>
              <a:t>  </a:t>
            </a:r>
            <a:r>
              <a:rPr lang="he-IL" sz="2000" dirty="0"/>
              <a:t> קולטן המקבל אותו גדילה</a:t>
            </a:r>
            <a:r>
              <a:rPr lang="en-US" sz="2000" dirty="0"/>
              <a:t>:EGFR</a:t>
            </a:r>
            <a:endParaRPr lang="he-IL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252608-C8E6-98FF-C30F-421EFDF2F715}"/>
              </a:ext>
            </a:extLst>
          </p:cNvPr>
          <p:cNvSpPr txBox="1"/>
          <p:nvPr/>
        </p:nvSpPr>
        <p:spPr>
          <a:xfrm>
            <a:off x="8414657" y="2871675"/>
            <a:ext cx="3635830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sz="2000" dirty="0"/>
              <a:t> מתג מולקולרי בתוך התא</a:t>
            </a:r>
            <a:r>
              <a:rPr lang="en-US" sz="2000" dirty="0"/>
              <a:t>:KRAS</a:t>
            </a:r>
            <a:endParaRPr lang="he-IL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7555C2-0824-CB3A-3A8C-F7E5820795DA}"/>
              </a:ext>
            </a:extLst>
          </p:cNvPr>
          <p:cNvSpPr txBox="1"/>
          <p:nvPr/>
        </p:nvSpPr>
        <p:spPr>
          <a:xfrm>
            <a:off x="1567543" y="3534919"/>
            <a:ext cx="10482944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sz="2000" dirty="0"/>
              <a:t>מוטציה במקום רגיש תוקעת את המתג במצב </a:t>
            </a:r>
            <a:r>
              <a:rPr lang="he-IL" sz="2000" b="1" dirty="0"/>
              <a:t>פועל</a:t>
            </a:r>
            <a:r>
              <a:rPr lang="he-IL" sz="2000" dirty="0"/>
              <a:t>, מה שמוביל</a:t>
            </a:r>
          </a:p>
          <a:p>
            <a:pPr algn="r"/>
            <a:r>
              <a:rPr lang="he-IL" sz="2000" dirty="0"/>
              <a:t>לחלוקת תאים בלתי מבוקרת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DBF4B44-BBD2-6773-B707-72A0A36AF2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3979" y="1668019"/>
            <a:ext cx="6057900" cy="3733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F1B5188E-55ED-6E12-F135-B4FE05ED41EF}"/>
              </a:ext>
            </a:extLst>
          </p:cNvPr>
          <p:cNvSpPr txBox="1"/>
          <p:nvPr/>
        </p:nvSpPr>
        <p:spPr>
          <a:xfrm>
            <a:off x="3194958" y="489857"/>
            <a:ext cx="5802085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sz="4800" dirty="0"/>
              <a:t>איך סרטן נוצר?</a:t>
            </a:r>
          </a:p>
        </p:txBody>
      </p:sp>
      <p:pic>
        <p:nvPicPr>
          <p:cNvPr id="2" name="Picture 1" descr="Crab Stroke Ocean Animal PNG &amp; SVG Design For T-Shirts">
            <a:extLst>
              <a:ext uri="{FF2B5EF4-FFF2-40B4-BE49-F238E27FC236}">
                <a16:creationId xmlns:a16="http://schemas.microsoft.com/office/drawing/2014/main" id="{C7035EE1-A251-F4EF-D619-498D592315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82" y="4109184"/>
            <a:ext cx="3014031" cy="301403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84B84D2-46D1-4908-46C3-221AB21483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5213" y="1320854"/>
            <a:ext cx="6756183" cy="49545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229EC-6B20-5D1B-4DEF-70108C4C7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תיבת טקסט 5">
            <a:extLst>
              <a:ext uri="{FF2B5EF4-FFF2-40B4-BE49-F238E27FC236}">
                <a16:creationId xmlns:a16="http://schemas.microsoft.com/office/drawing/2014/main" id="{BDAC8804-CB9F-4411-345D-959182428994}"/>
              </a:ext>
            </a:extLst>
          </p:cNvPr>
          <p:cNvSpPr txBox="1"/>
          <p:nvPr/>
        </p:nvSpPr>
        <p:spPr>
          <a:xfrm>
            <a:off x="3194958" y="489857"/>
            <a:ext cx="5802085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sz="4800" dirty="0"/>
              <a:t>הפרויקט שלנו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9821CE-4509-13ED-FC86-BCE2777227FF}"/>
              </a:ext>
            </a:extLst>
          </p:cNvPr>
          <p:cNvSpPr txBox="1"/>
          <p:nvPr/>
        </p:nvSpPr>
        <p:spPr>
          <a:xfrm>
            <a:off x="2906486" y="1491343"/>
            <a:ext cx="8828314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sz="2800" dirty="0"/>
              <a:t>איסוף נתונים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7F6381-4A50-4BD2-AEA9-73C62DD25DB5}"/>
              </a:ext>
            </a:extLst>
          </p:cNvPr>
          <p:cNvSpPr txBox="1"/>
          <p:nvPr/>
        </p:nvSpPr>
        <p:spPr>
          <a:xfrm>
            <a:off x="7826829" y="3201496"/>
            <a:ext cx="413657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dirty="0"/>
              <a:t>מיקומי מוטציות בדנ"א אצל חולי סרטן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454136-890C-C210-1026-69667C35AE5E}"/>
              </a:ext>
            </a:extLst>
          </p:cNvPr>
          <p:cNvSpPr txBox="1"/>
          <p:nvPr/>
        </p:nvSpPr>
        <p:spPr>
          <a:xfrm>
            <a:off x="1578429" y="3201496"/>
            <a:ext cx="323305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dirty="0"/>
              <a:t>מציאת רצפי החלבונים</a:t>
            </a:r>
          </a:p>
        </p:txBody>
      </p:sp>
    </p:spTree>
    <p:extLst>
      <p:ext uri="{BB962C8B-B14F-4D97-AF65-F5344CB8AC3E}">
        <p14:creationId xmlns:p14="http://schemas.microsoft.com/office/powerpoint/2010/main" val="3893564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D61C1-D79D-8C1B-4927-3C959CF01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08A676-D9C9-D66E-9334-3458990C954A}"/>
              </a:ext>
            </a:extLst>
          </p:cNvPr>
          <p:cNvSpPr txBox="1"/>
          <p:nvPr/>
        </p:nvSpPr>
        <p:spPr>
          <a:xfrm>
            <a:off x="-1295400" y="342835"/>
            <a:ext cx="8055429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sz="3200" dirty="0"/>
              <a:t>עיבוד נתונים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43587F-38D6-1C9A-BD56-7B9BFFF04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62" y="1153202"/>
            <a:ext cx="11546781" cy="3061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4B860CF-BF9C-BBD9-DE20-3DD254E9AA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r="5685" b="29755"/>
          <a:stretch>
            <a:fillRect/>
          </a:stretch>
        </p:blipFill>
        <p:spPr>
          <a:xfrm>
            <a:off x="122834" y="1481137"/>
            <a:ext cx="11546781" cy="4680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775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93DDB-EFCE-9EAD-FA62-18D239D7E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4466B4C-8518-AC26-60C2-9E9EF591527B}"/>
              </a:ext>
            </a:extLst>
          </p:cNvPr>
          <p:cNvSpPr txBox="1"/>
          <p:nvPr/>
        </p:nvSpPr>
        <p:spPr>
          <a:xfrm>
            <a:off x="-413658" y="370116"/>
            <a:ext cx="8055429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sz="4000" dirty="0"/>
              <a:t>רגרסיה לוגיסטית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B20EF13-CEB6-4550-296F-DAB23C9EAB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1656" y="2705098"/>
            <a:ext cx="4762500" cy="47625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DB42DFC-E310-AA0D-B020-33E2A4959924}"/>
              </a:ext>
            </a:extLst>
          </p:cNvPr>
          <p:cNvSpPr txBox="1"/>
          <p:nvPr/>
        </p:nvSpPr>
        <p:spPr>
          <a:xfrm>
            <a:off x="6629400" y="1202164"/>
            <a:ext cx="5410200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sz="2800" dirty="0"/>
              <a:t>למה משתמשים ברגרסיה לוגיסטית?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DDC07D-44D1-5E9D-DD98-A0EE779FF5C6}"/>
              </a:ext>
            </a:extLst>
          </p:cNvPr>
          <p:cNvSpPr txBox="1"/>
          <p:nvPr/>
        </p:nvSpPr>
        <p:spPr>
          <a:xfrm>
            <a:off x="2677886" y="2057716"/>
            <a:ext cx="683622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400" dirty="0"/>
              <a:t>בדומיינים ארוכים יותר יש יותר סיכוי להיווצרות מוטציות </a:t>
            </a:r>
            <a:r>
              <a:rPr lang="he-IL" sz="2400" dirty="0" err="1"/>
              <a:t>מבקצרים</a:t>
            </a:r>
            <a:r>
              <a:rPr lang="he-IL" sz="2400" dirty="0"/>
              <a:t> יותר</a:t>
            </a:r>
          </a:p>
        </p:txBody>
      </p:sp>
    </p:spTree>
    <p:extLst>
      <p:ext uri="{BB962C8B-B14F-4D97-AF65-F5344CB8AC3E}">
        <p14:creationId xmlns:p14="http://schemas.microsoft.com/office/powerpoint/2010/main" val="37145417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41536-A321-8FEC-6959-263BD627A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6CEC9F-A204-8AA8-8ABF-5EC0BD0BCB30}"/>
              </a:ext>
            </a:extLst>
          </p:cNvPr>
          <p:cNvSpPr txBox="1"/>
          <p:nvPr/>
        </p:nvSpPr>
        <p:spPr>
          <a:xfrm>
            <a:off x="402771" y="304800"/>
            <a:ext cx="8055429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sz="4000" dirty="0"/>
              <a:t>תוצאות הרגרסיה לוגיסטית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53107F-879A-CAA6-6737-409F62509262}"/>
              </a:ext>
            </a:extLst>
          </p:cNvPr>
          <p:cNvSpPr txBox="1"/>
          <p:nvPr/>
        </p:nvSpPr>
        <p:spPr>
          <a:xfrm>
            <a:off x="859971" y="2951946"/>
            <a:ext cx="10472058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dirty="0"/>
              <a:t>ע"פ תוצאות הרגרסיה, בדומיינים פונקציונליים יש פי 2 יותר סיכוי להיווצרות מוטציות!</a:t>
            </a:r>
          </a:p>
        </p:txBody>
      </p:sp>
    </p:spTree>
    <p:extLst>
      <p:ext uri="{BB962C8B-B14F-4D97-AF65-F5344CB8AC3E}">
        <p14:creationId xmlns:p14="http://schemas.microsoft.com/office/powerpoint/2010/main" val="4134096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F5B27-CBAC-198C-382E-4E098AA27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9814829-DB96-B93E-4A3C-4A2934893D6A}"/>
              </a:ext>
            </a:extLst>
          </p:cNvPr>
          <p:cNvSpPr txBox="1"/>
          <p:nvPr/>
        </p:nvSpPr>
        <p:spPr>
          <a:xfrm>
            <a:off x="-1240972" y="348343"/>
            <a:ext cx="8055429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sz="4000" dirty="0"/>
              <a:t>מסקנות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ADFD21-4955-27FB-AAA4-074A2D340D75}"/>
              </a:ext>
            </a:extLst>
          </p:cNvPr>
          <p:cNvSpPr txBox="1"/>
          <p:nvPr/>
        </p:nvSpPr>
        <p:spPr>
          <a:xfrm>
            <a:off x="3102429" y="1883229"/>
            <a:ext cx="868680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dirty="0"/>
              <a:t>מוטציות שמשבשות את בקרת החלבון, הן אלו ששורדות בגידול.</a:t>
            </a:r>
          </a:p>
          <a:p>
            <a:pPr algn="r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7604202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2918F-73B8-C4DD-A863-5B38CD82F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1858B3E-5E38-C635-DB70-00BA69919E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 dirty="0"/>
          </a:p>
        </p:txBody>
      </p:sp>
      <p:pic>
        <p:nvPicPr>
          <p:cNvPr id="6" name="Picture 5" descr="Thank You For Listening Images – Browse 13,288 Stock Photos, Vectors, and  Video | Adobe Stock">
            <a:extLst>
              <a:ext uri="{FF2B5EF4-FFF2-40B4-BE49-F238E27FC236}">
                <a16:creationId xmlns:a16="http://schemas.microsoft.com/office/drawing/2014/main" id="{D1EBA301-E1BA-FAB9-9922-370664B9D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10733"/>
            <a:ext cx="12192000" cy="6868733"/>
          </a:xfrm>
          <a:prstGeom prst="rect">
            <a:avLst/>
          </a:prstGeom>
        </p:spPr>
      </p:pic>
      <p:pic>
        <p:nvPicPr>
          <p:cNvPr id="7" name="Picture 6" descr="Crab (Oggy Next Gen) by AliceRibeiroAraujo12 on DeviantArt">
            <a:extLst>
              <a:ext uri="{FF2B5EF4-FFF2-40B4-BE49-F238E27FC236}">
                <a16:creationId xmlns:a16="http://schemas.microsoft.com/office/drawing/2014/main" id="{672B4210-03B5-5878-0CFB-66DC1ABE32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356" y="3369930"/>
            <a:ext cx="3586844" cy="358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774780"/>
      </p:ext>
    </p:extLst>
  </p:cSld>
  <p:clrMapOvr>
    <a:masterClrMapping/>
  </p:clrMapOvr>
</p:sld>
</file>

<file path=ppt/theme/theme1.xml><?xml version="1.0" encoding="utf-8"?>
<a:theme xmlns:a="http://schemas.openxmlformats.org/drawingml/2006/main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2082</TotalTime>
  <Words>173</Words>
  <Application>Microsoft Office PowerPoint</Application>
  <PresentationFormat>Widescreen</PresentationFormat>
  <Paragraphs>30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Crimson Text</vt:lpstr>
      <vt:lpstr>Montserrat</vt:lpstr>
      <vt:lpstr>Vidaloka</vt:lpstr>
      <vt:lpstr>Minimalist Business Slides XL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Eyal Raifler</dc:creator>
  <cp:lastModifiedBy>Eyal Raifler</cp:lastModifiedBy>
  <cp:revision>7</cp:revision>
  <dcterms:created xsi:type="dcterms:W3CDTF">2026-06-22T08:17:15Z</dcterms:created>
  <dcterms:modified xsi:type="dcterms:W3CDTF">2026-06-23T18:59:27Z</dcterms:modified>
</cp:coreProperties>
</file>